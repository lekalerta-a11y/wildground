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3c81826c204d17" /><Relationship Type="http://schemas.openxmlformats.org/officeDocument/2006/relationships/extended-properties" Target="/docProps/app.xml" Id="R21bafd41504841c3" /><Relationship Type="http://schemas.openxmlformats.org/officeDocument/2006/relationships/officeDocument" Target="/ppt/presentation.xml" Id="R961cfb2f3e034f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0c6284013a415a"/>
  </p:sldMasterIdLst>
  <p:notesMasterIdLst>
    <p:notesMasterId xmlns:r="http://schemas.openxmlformats.org/officeDocument/2006/relationships" r:id="R753c4ca573724e2f"/>
  </p:notesMasterIdLst>
  <p:sldIdLst>
    <p:sldId xmlns:r="http://schemas.openxmlformats.org/officeDocument/2006/relationships" id="256" r:id="R0264d865f843475e"/>
    <p:sldId xmlns:r="http://schemas.openxmlformats.org/officeDocument/2006/relationships" id="257" r:id="R4bac4acc0b6e4617"/>
    <p:sldId xmlns:r="http://schemas.openxmlformats.org/officeDocument/2006/relationships" id="258" r:id="R07ee719342c841d5"/>
    <p:sldId xmlns:r="http://schemas.openxmlformats.org/officeDocument/2006/relationships" id="259" r:id="Rdbd6004295fa4047"/>
    <p:sldId xmlns:r="http://schemas.openxmlformats.org/officeDocument/2006/relationships" id="260" r:id="R86558e25ad274074"/>
    <p:sldId xmlns:r="http://schemas.openxmlformats.org/officeDocument/2006/relationships" id="261" r:id="R9bb0a324c6de494a"/>
    <p:sldId xmlns:r="http://schemas.openxmlformats.org/officeDocument/2006/relationships" id="262" r:id="Rfaf8acc585304e6f"/>
    <p:sldId xmlns:r="http://schemas.openxmlformats.org/officeDocument/2006/relationships" id="263" r:id="R07c8229482c6463c"/>
    <p:sldId xmlns:r="http://schemas.openxmlformats.org/officeDocument/2006/relationships" id="264" r:id="Rf7bc91607af34bd9"/>
    <p:sldId xmlns:r="http://schemas.openxmlformats.org/officeDocument/2006/relationships" id="265" r:id="R293ca5855829488e"/>
    <p:sldId xmlns:r="http://schemas.openxmlformats.org/officeDocument/2006/relationships" id="266" r:id="Rd7e00d02d7604f7e"/>
    <p:sldId xmlns:r="http://schemas.openxmlformats.org/officeDocument/2006/relationships" id="267" r:id="Raf7b88baf2484e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da5d29091d42d2" /><Relationship Type="http://schemas.openxmlformats.org/officeDocument/2006/relationships/slideMaster" Target="/ppt/slideMasters/slideMaster1.xml" Id="R3e0c6284013a415a" /><Relationship Type="http://schemas.openxmlformats.org/officeDocument/2006/relationships/notesMaster" Target="/ppt/notesMasters/notesMaster1.xml" Id="R753c4ca573724e2f" /><Relationship Type="http://schemas.openxmlformats.org/officeDocument/2006/relationships/presProps" Target="/ppt/presProps.xml" Id="R2cff0bf50f444ec9" /><Relationship Type="http://schemas.openxmlformats.org/officeDocument/2006/relationships/tableStyles" Target="/ppt/tableStyles.xml" Id="R687b78d6c3bc460f" /><Relationship Type="http://schemas.openxmlformats.org/officeDocument/2006/relationships/slide" Target="/ppt/slides/slide1.xml" Id="R0264d865f843475e" /><Relationship Type="http://schemas.openxmlformats.org/officeDocument/2006/relationships/slide" Target="/ppt/slides/slide2.xml" Id="R4bac4acc0b6e4617" /><Relationship Type="http://schemas.openxmlformats.org/officeDocument/2006/relationships/slide" Target="/ppt/slides/slide3.xml" Id="R07ee719342c841d5" /><Relationship Type="http://schemas.openxmlformats.org/officeDocument/2006/relationships/slide" Target="/ppt/slides/slide4.xml" Id="Rdbd6004295fa4047" /><Relationship Type="http://schemas.openxmlformats.org/officeDocument/2006/relationships/slide" Target="/ppt/slides/slide5.xml" Id="R86558e25ad274074" /><Relationship Type="http://schemas.openxmlformats.org/officeDocument/2006/relationships/slide" Target="/ppt/slides/slide6.xml" Id="R9bb0a324c6de494a" /><Relationship Type="http://schemas.openxmlformats.org/officeDocument/2006/relationships/slide" Target="/ppt/slides/slide7.xml" Id="Rfaf8acc585304e6f" /><Relationship Type="http://schemas.openxmlformats.org/officeDocument/2006/relationships/slide" Target="/ppt/slides/slide8.xml" Id="R07c8229482c6463c" /><Relationship Type="http://schemas.openxmlformats.org/officeDocument/2006/relationships/slide" Target="/ppt/slides/slide9.xml" Id="Rf7bc91607af34bd9" /><Relationship Type="http://schemas.openxmlformats.org/officeDocument/2006/relationships/slide" Target="/ppt/slides/slide10.xml" Id="R293ca5855829488e" /><Relationship Type="http://schemas.openxmlformats.org/officeDocument/2006/relationships/slide" Target="/ppt/slides/slide11.xml" Id="Rd7e00d02d7604f7e" /><Relationship Type="http://schemas.openxmlformats.org/officeDocument/2006/relationships/slide" Target="/ppt/slides/slide12.xml" Id="Raf7b88baf2484e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a47c579df147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1c016b1bee470d" /><Relationship Type="http://schemas.openxmlformats.org/officeDocument/2006/relationships/notesMaster" Target="/ppt/notesMasters/notesMaster1.xml" Id="R4e07f5c1e63e42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6517131cb04476" /><Relationship Type="http://schemas.openxmlformats.org/officeDocument/2006/relationships/notesMaster" Target="/ppt/notesMasters/notesMaster1.xml" Id="R9ac5ab32b35d4b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f59a951aaa41ec" /><Relationship Type="http://schemas.openxmlformats.org/officeDocument/2006/relationships/notesMaster" Target="/ppt/notesMasters/notesMaster1.xml" Id="R2b4dbcd2cebb41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6f5adf90ca4f1c" /><Relationship Type="http://schemas.openxmlformats.org/officeDocument/2006/relationships/notesMaster" Target="/ppt/notesMasters/notesMaster1.xml" Id="Raccdb857fc4348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c19c97368b4397" /><Relationship Type="http://schemas.openxmlformats.org/officeDocument/2006/relationships/notesMaster" Target="/ppt/notesMasters/notesMaster1.xml" Id="R77552c1ecbd345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51ba924aa24025" /><Relationship Type="http://schemas.openxmlformats.org/officeDocument/2006/relationships/notesMaster" Target="/ppt/notesMasters/notesMaster1.xml" Id="R1e679f9162e442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56eea931914a0b" /><Relationship Type="http://schemas.openxmlformats.org/officeDocument/2006/relationships/notesMaster" Target="/ppt/notesMasters/notesMaster1.xml" Id="R99d9b282a6cb4b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ff4975b7c24dc4" /><Relationship Type="http://schemas.openxmlformats.org/officeDocument/2006/relationships/notesMaster" Target="/ppt/notesMasters/notesMaster1.xml" Id="Re380c219df234f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369bce9a7a431b" /><Relationship Type="http://schemas.openxmlformats.org/officeDocument/2006/relationships/notesMaster" Target="/ppt/notesMasters/notesMaster1.xml" Id="R8d1bdb608dd046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cf183a874c420f" /><Relationship Type="http://schemas.openxmlformats.org/officeDocument/2006/relationships/notesMaster" Target="/ppt/notesMasters/notesMaster1.xml" Id="R6a1b1ff6250d43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7a33ddb3184d89" /><Relationship Type="http://schemas.openxmlformats.org/officeDocument/2006/relationships/notesMaster" Target="/ppt/notesMasters/notesMaster1.xml" Id="Rd33c93c779b244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3b0de5748b4c78" /><Relationship Type="http://schemas.openxmlformats.org/officeDocument/2006/relationships/notesMaster" Target="/ppt/notesMasters/notesMaster1.xml" Id="R21bec29fc6a34e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identity and founder supplied by the user. Original WG logo created for this project. No adoption or revenue claims.</a:t>
            </a:r>
          </a:p>
          <a:p xmlns:a="http://schemas.openxmlformats.org/drawingml/2006/main">
            <a:r>
              <a:t>Evidence snapshot: 12 October 2026. Project sources: README.md and docs/evidence.md.</a:t>
            </a:r>
          </a:p>
          <a:p xmlns:a="http://schemas.openxmlformats.org/drawingml/2006/main">
            <a:r>
              <a:t>Narrative reference: https://docs.google.com/presentation/d/1V9yq8B1nLpF8vPTL2buT_nlmsMwNJ_fRuyADs_k49Sg/edit</a:t>
            </a:r>
          </a:p>
          <a:p xmlns:a="http://schemas.openxmlformats.org/drawingml/2006/main">
            <a:r>
              <a:t>Evidence guidance: https://github.com/Marakaya/proofpilot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product design hypothesis from the founder specification, not a validated survey finding. No customer interviews or demand data have been supplied.</a:t>
            </a:r>
          </a:p>
          <a:p xmlns:a="http://schemas.openxmlformats.org/drawingml/2006/main">
            <a:r>
              <a:t>Evidence snapshot: 12 October 2026. Project sources: README.md and docs/evidence.md.</a:t>
            </a:r>
          </a:p>
          <a:p xmlns:a="http://schemas.openxmlformats.org/drawingml/2006/main">
            <a:r>
              <a:t>Narrative reference: https://docs.google.com/presentation/d/1V9yq8B1nLpF8vPTL2buT_nlmsMwNJ_fRuyADs_k49Sg/edit</a:t>
            </a:r>
          </a:p>
          <a:p xmlns:a="http://schemas.openxmlformats.org/drawingml/2006/main">
            <a:r>
              <a:t>Evidence guidance: https://github.com/Marakaya/proofpilot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conceptual design alternatives, not named competitor findings. No competitor defects or superior market position are claimed. The project uses the optional cosmetics model shown in its source.</a:t>
            </a:r>
          </a:p>
          <a:p xmlns:a="http://schemas.openxmlformats.org/drawingml/2006/main">
            <a:r>
              <a:t>Evidence snapshot: 12 October 2026. Project sources: README.md and docs/evidence.md.</a:t>
            </a:r>
          </a:p>
          <a:p xmlns:a="http://schemas.openxmlformats.org/drawingml/2006/main">
            <a:r>
              <a:t>Narrative reference: https://docs.google.com/presentation/d/1V9yq8B1nLpF8vPTL2buT_nlmsMwNJ_fRuyADs_k49Sg/edit</a:t>
            </a:r>
          </a:p>
          <a:p xmlns:a="http://schemas.openxmlformats.org/drawingml/2006/main">
            <a:r>
              <a:t>Evidence guidance: https://github.com/Marakaya/proofpilot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src/core/constants.ts, skins.ts, render/territoryRenderer.ts, sceneRenderer.ts. The screenshot is from an earlier prototype and demonstrates the implemented appearance. It predates WG holding verification and is not a real holder unlock test.</a:t>
            </a:r>
          </a:p>
          <a:p xmlns:a="http://schemas.openxmlformats.org/drawingml/2006/main">
            <a:r>
              <a:t>Evidence snapshot: 12 October 2026. Project sources: README.md and docs/evidence.md.</a:t>
            </a:r>
          </a:p>
          <a:p xmlns:a="http://schemas.openxmlformats.org/drawingml/2006/main">
            <a:r>
              <a:t>Narrative reference: https://docs.google.com/presentation/d/1V9yq8B1nLpF8vPTL2buT_nlmsMwNJ_fRuyADs_k49Sg/edit</a:t>
            </a:r>
          </a:p>
          <a:p xmlns:a="http://schemas.openxmlformats.org/drawingml/2006/main">
            <a:r>
              <a:t>Evidence guidance: https://github.com/Marakaya/proofpilot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demo: https://idosgames.com/app/XCQ1T7X1/. Menu image captured during WG gate development. Current deployment: build bld4e5277d3034348f68b06efdf2956e06b, Status Live. Rules: src/core/simulation.ts and territoryGrid.ts.</a:t>
            </a:r>
          </a:p>
          <a:p xmlns:a="http://schemas.openxmlformats.org/drawingml/2006/main">
            <a:r>
              <a:t>Evidence snapshot: 12 October 2026. Project sources: README.md and docs/evidence.md.</a:t>
            </a:r>
          </a:p>
          <a:p xmlns:a="http://schemas.openxmlformats.org/drawingml/2006/main">
            <a:r>
              <a:t>Narrative reference: https://docs.google.com/presentation/d/1V9yq8B1nLpF8vPTL2buT_nlmsMwNJ_fRuyADs_k49Sg/edit</a:t>
            </a:r>
          </a:p>
          <a:p xmlns:a="http://schemas.openxmlformats.org/drawingml/2006/main">
            <a:r>
              <a:t>Evidence guidance: https://github.com/Marakaya/proofpilot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Implemented scope: single-player versus bots and spectator mode. Holder cosmetics are implemented but a real holder positive-flow test is pending. Future activities are proposals, not committed milestones or implemented functions.</a:t>
            </a:r>
          </a:p>
          <a:p xmlns:a="http://schemas.openxmlformats.org/drawingml/2006/main">
            <a:r>
              <a:t>Evidence snapshot: 12 October 2026. Project sources: README.md and docs/evidence.md.</a:t>
            </a:r>
          </a:p>
          <a:p xmlns:a="http://schemas.openxmlformats.org/drawingml/2006/main">
            <a:r>
              <a:t>Narrative reference: https://docs.google.com/presentation/d/1V9yq8B1nLpF8vPTL2buT_nlmsMwNJ_fRuyADs_k49Sg/edit</a:t>
            </a:r>
          </a:p>
          <a:p xmlns:a="http://schemas.openxmlformats.org/drawingml/2006/main">
            <a:r>
              <a:t>Evidence guidance: https://github.com/Marakaya/proofpilot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 v6 published through iDosGames MCP. Local npm test: 49 passed in 9 files on 12 October 2026, after fixing an invalid open-loop test fixture. PLAYER_SKINS has 9 animals plus Classic. These are product metrics, not customer traction.</a:t>
            </a:r>
          </a:p>
          <a:p xmlns:a="http://schemas.openxmlformats.org/drawingml/2006/main">
            <a:r>
              <a:t>Evidence snapshot: 12 October 2026. Project sources: README.md and docs/evidence.md.</a:t>
            </a:r>
          </a:p>
          <a:p xmlns:a="http://schemas.openxmlformats.org/drawingml/2006/main">
            <a:r>
              <a:t>Narrative reference: https://docs.google.com/presentation/d/1V9yq8B1nLpF8vPTL2buT_nlmsMwNJ_fRuyADs_k49Sg/edit</a:t>
            </a:r>
          </a:p>
          <a:p xmlns:a="http://schemas.openxmlformats.org/drawingml/2006/main">
            <a:r>
              <a:t>Evidence guidance: https://github.com/Marakaya/proofpilot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technical timing claim, not evidence of a market window. References checked 12 October 2026: https://solana.com/docs/tokens/basics/create-token-account and https://solana.com/docs/rpc/http/getaccountinfo and https://solana.publicnode.com/. Implementation: src/core/tokenSkinAccess.ts. The current browser route does not require outbound CloudCode HTTP.</a:t>
            </a:r>
          </a:p>
          <a:p xmlns:a="http://schemas.openxmlformats.org/drawingml/2006/main">
            <a:r>
              <a:t>Evidence snapshot: 12 October 2026. Project sources: README.md and docs/evidence.md.</a:t>
            </a:r>
          </a:p>
          <a:p xmlns:a="http://schemas.openxmlformats.org/drawingml/2006/main">
            <a:r>
              <a:t>Narrative reference: https://docs.google.com/presentation/d/1V9yq8B1nLpF8vPTL2buT_nlmsMwNJ_fRuyADs_k49Sg/edit</a:t>
            </a:r>
          </a:p>
          <a:p xmlns:a="http://schemas.openxmlformats.org/drawingml/2006/main">
            <a:r>
              <a:t>Evidence guidance: https://github.com/Marakaya/proofpilot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Founder name, role and public contact were supplied by the user. No employment history, awards, previous projects or additional teammates are claimed.</a:t>
            </a:r>
          </a:p>
          <a:p xmlns:a="http://schemas.openxmlformats.org/drawingml/2006/main">
            <a:r>
              <a:t>Evidence snapshot: 12 October 2026. Project sources: README.md and docs/evidence.md.</a:t>
            </a:r>
          </a:p>
          <a:p xmlns:a="http://schemas.openxmlformats.org/drawingml/2006/main">
            <a:r>
              <a:t>Narrative reference: https://docs.google.com/presentation/d/1V9yq8B1nLpF8vPTL2buT_nlmsMwNJ_fRuyADs_k49Sg/edit</a:t>
            </a:r>
          </a:p>
          <a:p xmlns:a="http://schemas.openxmlformats.org/drawingml/2006/main">
            <a:r>
              <a:t>Evidence guidance: https://github.com/Marakaya/proofpilot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future milestones and pilot thresholds are proposals. If completion or replay thresholds fail, prioritize controls and onboarding before expansion. No dates, funding, partnerships or awarded grants are assumed. Source: docs/roadmap.md.</a:t>
            </a:r>
          </a:p>
          <a:p xmlns:a="http://schemas.openxmlformats.org/drawingml/2006/main">
            <a:r>
              <a:t>Evidence snapshot: 12 October 2026. Project sources: README.md and docs/evidence.md.</a:t>
            </a:r>
          </a:p>
          <a:p xmlns:a="http://schemas.openxmlformats.org/drawingml/2006/main">
            <a:r>
              <a:t>Narrative reference: https://docs.google.com/presentation/d/1V9yq8B1nLpF8vPTL2buT_nlmsMwNJ_fRuyADs_k49Sg/edit</a:t>
            </a:r>
          </a:p>
          <a:p xmlns:a="http://schemas.openxmlformats.org/drawingml/2006/main">
            <a:r>
              <a:t>Evidence guidance: https://github.com/Marakaya/proofpilot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Threshold: 100000000000 raw units, 6 decimals. WG mint: 3hZ7a3r5ghQPnceqyjj4KTKi3yneWeKMmSTsqxX4idos. Standard ATA only, not custody/staking/extra accounts. Client-side cosmetic check is bypassable by a modified client and must not authorize payouts. Real holder positive-flow test pending. Catalogue screenshot predates the holding gate and is appearance evidence only. Future cosmetic purchases or platform partnerships are hypotheses, not revenue.</a:t>
            </a:r>
          </a:p>
          <a:p xmlns:a="http://schemas.openxmlformats.org/drawingml/2006/main">
            <a:r>
              <a:t>Evidence snapshot: 12 October 2026. Project sources: README.md and docs/evidence.md.</a:t>
            </a:r>
          </a:p>
          <a:p xmlns:a="http://schemas.openxmlformats.org/drawingml/2006/main">
            <a:r>
              <a:t>Narrative reference: https://docs.google.com/presentation/d/1V9yq8B1nLpF8vPTL2buT_nlmsMwNJ_fRuyADs_k49Sg/edit</a:t>
            </a:r>
          </a:p>
          <a:p xmlns:a="http://schemas.openxmlformats.org/drawingml/2006/main">
            <a:r>
              <a:t>Evidence guidance: https://github.com/Marakaya/proofpilot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game, requested repository destination and founder contact. Narrative adapted from Superteam template. Evidence rules based on ProofPilot. No request for token purchase, return promise or hackathon submission is made.</a:t>
            </a:r>
          </a:p>
          <a:p xmlns:a="http://schemas.openxmlformats.org/drawingml/2006/main">
            <a:r>
              <a:t>Evidence snapshot: 12 October 2026. Project sources: README.md and docs/evidence.md.</a:t>
            </a:r>
          </a:p>
          <a:p xmlns:a="http://schemas.openxmlformats.org/drawingml/2006/main">
            <a:r>
              <a:t>Narrative reference: https://docs.google.com/presentation/d/1V9yq8B1nLpF8vPTL2buT_nlmsMwNJ_fRuyADs_k49Sg/edit</a:t>
            </a:r>
          </a:p>
          <a:p xmlns:a="http://schemas.openxmlformats.org/drawingml/2006/main">
            <a:r>
              <a:t>Evidence guidance: https://github.com/Marakaya/proofpilot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7b38ac91314c3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9ed025d163477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64f7adc0f24c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86c0bce55245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53743c59cf438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e8029a1e3542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64B73F-708A-4CE2-91DA-C84BD57BD2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7530735-98F0-459D-A1BF-86F1ACBF24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1DA86E5-EA2A-4E08-A18B-F6D439E3D9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114E0D-07D0-40C4-BDC7-E2C3B56E76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53EF4A6-F578-40E7-814D-FA6C183489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5057AA8-3F46-4412-8685-690B794A87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390F22-CE81-4728-B9BB-F1182E1A37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FD4B7B0-DF75-4B23-B094-5F634998F9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D37E38-7BDA-4E9A-9A64-48DCF99939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8E7779-7A90-4F46-A43F-8A5DB80839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aa70ea08cf4739" /><Relationship Type="http://schemas.openxmlformats.org/officeDocument/2006/relationships/slideLayout" Target="/ppt/slideLayouts/slideLayout1.xml" Id="Ra9cd799288204457" /><Relationship Type="http://schemas.openxmlformats.org/officeDocument/2006/relationships/slideLayout" Target="/ppt/slideLayouts/slideLayout2.xml" Id="R92703f056d3a4b4f" /><Relationship Type="http://schemas.openxmlformats.org/officeDocument/2006/relationships/slideLayout" Target="/ppt/slideLayouts/slideLayout3.xml" Id="R006f49fdd3544e87" /><Relationship Type="http://schemas.openxmlformats.org/officeDocument/2006/relationships/slideLayout" Target="/ppt/slideLayouts/slideLayout4.xml" Id="Rcf32ce575e234e39" /><Relationship Type="http://schemas.openxmlformats.org/officeDocument/2006/relationships/slideLayout" Target="/ppt/slideLayouts/slideLayout5.xml" Id="Rcff1a5f80cd74adb" /><Relationship Type="http://schemas.openxmlformats.org/officeDocument/2006/relationships/slideLayout" Target="/ppt/slideLayouts/slideLayout6.xml" Id="R9b0a02be8eb048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cd799288204457"/>
    <p:sldLayoutId xmlns:r="http://schemas.openxmlformats.org/officeDocument/2006/relationships" id="2147483650" r:id="R92703f056d3a4b4f"/>
    <p:sldLayoutId xmlns:r="http://schemas.openxmlformats.org/officeDocument/2006/relationships" id="2147483651" r:id="R006f49fdd3544e87"/>
    <p:sldLayoutId xmlns:r="http://schemas.openxmlformats.org/officeDocument/2006/relationships" id="2147483652" r:id="Rcf32ce575e234e39"/>
    <p:sldLayoutId xmlns:r="http://schemas.openxmlformats.org/officeDocument/2006/relationships" id="2147483653" r:id="Rcff1a5f80cd74adb"/>
    <p:sldLayoutId xmlns:r="http://schemas.openxmlformats.org/officeDocument/2006/relationships" id="2147483654" r:id="R9b0a02be8eb048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a5da7136754546" /><Relationship Type="http://schemas.openxmlformats.org/officeDocument/2006/relationships/image" Target="/ppt/media/image.png" Id="Rbc16b441a7cd46f5" /><Relationship Type="http://schemas.openxmlformats.org/officeDocument/2006/relationships/notesSlide" Target="/ppt/notesSlides/notesSlide1.xml" Id="R8c1cc41db7c746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212bbb91ec46dc" /><Relationship Type="http://schemas.openxmlformats.org/officeDocument/2006/relationships/notesSlide" Target="/ppt/notesSlides/notesSlide2.xml" Id="R90df0084c4db4a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38610828924c6f" /><Relationship Type="http://schemas.openxmlformats.org/officeDocument/2006/relationships/notesSlide" Target="/ppt/notesSlides/notesSlide3.xml" Id="Rb43dd161dfe044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0354eb3739457d" /><Relationship Type="http://schemas.openxmlformats.org/officeDocument/2006/relationships/image" Target="/ppt/media/image.jpeg" Id="Rba7e165801f94af1" /><Relationship Type="http://schemas.openxmlformats.org/officeDocument/2006/relationships/notesSlide" Target="/ppt/notesSlides/notesSlide4.xml" Id="Rd0f1033e99324c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aad7cedc914d5e" /><Relationship Type="http://schemas.openxmlformats.org/officeDocument/2006/relationships/image" Target="/ppt/media/image2.jpeg" Id="Rc8cddb18b27545e7" /><Relationship Type="http://schemas.openxmlformats.org/officeDocument/2006/relationships/hyperlink" Target="https://idosgames.com/app/XCQ1T7X1/" TargetMode="External" Id="Ra5be061101674098" /><Relationship Type="http://schemas.openxmlformats.org/officeDocument/2006/relationships/notesSlide" Target="/ppt/notesSlides/notesSlide5.xml" Id="R6c1730cbcd614a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8b5f44cb8d4f6c" /><Relationship Type="http://schemas.openxmlformats.org/officeDocument/2006/relationships/notesSlide" Target="/ppt/notesSlides/notesSlide6.xml" Id="Re93eb154ccc146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3feb02032349a8" /><Relationship Type="http://schemas.openxmlformats.org/officeDocument/2006/relationships/notesSlide" Target="/ppt/notesSlides/notesSlide7.xml" Id="R9ee6844507df4a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e06662bc9e45ae" /><Relationship Type="http://schemas.openxmlformats.org/officeDocument/2006/relationships/notesSlide" Target="/ppt/notesSlides/notesSlide8.xml" Id="R7195a8e62e984f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302ff17bf54e9a" /><Relationship Type="http://schemas.openxmlformats.org/officeDocument/2006/relationships/hyperlink" Target="https://t.me/satoryX" TargetMode="External" Id="Ra273510d15bb4491" /><Relationship Type="http://schemas.openxmlformats.org/officeDocument/2006/relationships/notesSlide" Target="/ppt/notesSlides/notesSlide9.xml" Id="Raea2bab1465449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c0f3cc0e2e4a08" /><Relationship Type="http://schemas.openxmlformats.org/officeDocument/2006/relationships/notesSlide" Target="/ppt/notesSlides/notesSlide10.xml" Id="R5d22c69817f24e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b4acd2202c4b61" /><Relationship Type="http://schemas.openxmlformats.org/officeDocument/2006/relationships/image" Target="/ppt/media/image3.jpeg" Id="R0afc137c51004875" /><Relationship Type="http://schemas.openxmlformats.org/officeDocument/2006/relationships/notesSlide" Target="/ppt/notesSlides/notesSlide11.xml" Id="Rfcdea2e83edc42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e8d40b10e34c3f" /><Relationship Type="http://schemas.openxmlformats.org/officeDocument/2006/relationships/hyperlink" Target="https://idosgames.com/app/XCQ1T7X1/" TargetMode="External" Id="R7b6e7844ddd442e7" /><Relationship Type="http://schemas.openxmlformats.org/officeDocument/2006/relationships/hyperlink" Target="https://github.com/lekalerta-a11y/wildground" TargetMode="External" Id="Rabc7d81345c14896" /><Relationship Type="http://schemas.openxmlformats.org/officeDocument/2006/relationships/hyperlink" Target="https://t.me/satoryX" TargetMode="External" Id="R746a6cb8b5674a07" /><Relationship Type="http://schemas.openxmlformats.org/officeDocument/2006/relationships/notesSlide" Target="/ppt/notesSlides/notesSlide12.xml" Id="Rb2c81604025d42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19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DF7D3-1591-4387-8A2B-596E0B60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WildGround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95C82-8762-46D1-ABA5-5D85C92C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50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C7D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C7D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D8FF"/>
                </a:solidFill>
                <a:latin typeface="Arial"/>
                <a:ea typeface="Arial"/>
                <a:cs typeface="Arial"/>
              </a:rPr>
              <a:t>WILDGROUND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E3A48-DBF7-4146-9CA4-A342F91B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C7D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7D8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7D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B1EDB-2C57-48C1-B3FA-BAD0D142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628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Territory capture.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Animal identity.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2385D-1A00-4B93-901D-002ADE38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628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C7D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C7D8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7D8FF"/>
                </a:solidFill>
                <a:latin typeface="Arial"/>
                <a:ea typeface="Arial"/>
                <a:cs typeface="Arial"/>
              </a:rPr>
              <a:t>A browser arcade with optional</a:t>
            </a:r>
          </a:p>
          <a:p xmlns:a="http://schemas.openxmlformats.org/drawingml/2006/main">
            <a:pPr>
              <a:defRPr sz="2250" b="0">
                <a:solidFill>
                  <a:srgbClr val="C7D8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7D8FF"/>
                </a:solidFill>
                <a:latin typeface="Arial"/>
                <a:ea typeface="Arial"/>
                <a:cs typeface="Arial"/>
              </a:rPr>
              <a:t>Solana holder cosmetics.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44445-9204-41AE-BDEA-C90D602DEF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6b441a7cd46f5"/>
          <a:stretch xmlns:a="http://schemas.openxmlformats.org/drawingml/2006/main"/>
        </p:blipFill>
        <p:spPr>
          <a:xfrm xmlns:a="http://schemas.openxmlformats.org/drawingml/2006/main">
            <a:off x="7810500" y="1790700"/>
            <a:ext cx="3381375" cy="3381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3A382-FB23-4A95-AF51-5059DCDB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C7D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C7D8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7D8FF"/>
                </a:solidFill>
                <a:latin typeface="Arial"/>
                <a:ea typeface="Arial"/>
                <a:cs typeface="Arial"/>
              </a:rPr>
              <a:t>Adam, Founder</a:t>
            </a:r>
          </a:p>
        </p:txBody>
      </p:sp>
    </p:spTree>
    <p:extLst>
      <p:ext uri="{BB962C8B-B14F-4D97-AF65-F5344CB8AC3E}">
        <p14:creationId xmlns:p14="http://schemas.microsoft.com/office/powerpoint/2010/main" val="19409521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3B093-25CB-4255-B924-F2AEEA52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The player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A3C98-7571-49FB-88FD-9FA1AD5E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50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70"/>
                </a:solidFill>
                <a:latin typeface="Arial"/>
                <a:ea typeface="Arial"/>
                <a:cs typeface="Arial"/>
              </a:rPr>
              <a:t>WILDGROUND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7D58D-1E04-4F0A-963B-CD33DE2C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9EC52-B887-4639-BCE4-9B39BC4F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9906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How can a casual game offer a visible token-holder identity without making every player connect a wallet?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CBA49-8139-4FD2-85A5-51EEF6AF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DESIGN HYPOTHESIS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E7445-87C7-4572-B685-F75C3C19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990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A player should try the game first.</a:t>
            </a:r>
          </a:p>
          <a:p xmlns:a="http://schemas.openxmlformats.org/drawingml/2006/main">
            <a:pPr>
              <a:defRPr sz="22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A holder should be able to choose a distinct appearance.</a:t>
            </a:r>
          </a:p>
        </p:txBody>
      </p:sp>
    </p:spTree>
    <p:extLst>
      <p:ext uri="{BB962C8B-B14F-4D97-AF65-F5344CB8AC3E}">
        <p14:creationId xmlns:p14="http://schemas.microsoft.com/office/powerpoint/2010/main" val="10085949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1E0EC-6A87-468B-902D-ED97CC05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Alternative access designs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10E4A-6A36-4150-9011-65F010EF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50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70"/>
                </a:solidFill>
                <a:latin typeface="Arial"/>
                <a:ea typeface="Arial"/>
                <a:cs typeface="Arial"/>
              </a:rPr>
              <a:t>WILDGROUND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B9A88-F683-4F89-A288-A2166577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6BDF4-67AA-4C4F-98FF-8E30E4C8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Open play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24646-010C-440A-8B4C-498E2BC8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857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Immediate access to the game.</a:t>
            </a:r>
          </a:p>
          <a:p xmlns:a="http://schemas.openxmlformats.org/drawingml/2006/main">
            <a:pPr>
              <a:defRPr sz="217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No holding-based cosmetic choice.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F8E9C-C3DD-4398-9849-B44527B6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Wallet required for everything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D8362-FDC6-40BB-BE49-14D4FF67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4857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One wallet rule governs all access.</a:t>
            </a:r>
          </a:p>
          <a:p xmlns:a="http://schemas.openxmlformats.org/drawingml/2006/main">
            <a:pPr>
              <a:defRPr sz="217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Players must connect before trying a match.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A30DF-5515-42FA-AD8B-66B44712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WildGround separates ordinary PLAY from optional SKINS.</a:t>
            </a:r>
          </a:p>
        </p:txBody>
      </p:sp>
    </p:spTree>
    <p:extLst>
      <p:ext uri="{BB962C8B-B14F-4D97-AF65-F5344CB8AC3E}">
        <p14:creationId xmlns:p14="http://schemas.microsoft.com/office/powerpoint/2010/main" val="14162145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13AC32-AD3F-4064-BFBB-66BEC7F6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The WildGround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DBB65-4B3A-4BCD-9576-DE88804F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50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70"/>
                </a:solidFill>
                <a:latin typeface="Arial"/>
                <a:ea typeface="Arial"/>
                <a:cs typeface="Arial"/>
              </a:rPr>
              <a:t>WILDGROUND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7BF10-7C61-4327-A2CA-EB0DBBDB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B2C4A-1F29-4CF6-9B35-3752D6B6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Free entry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411AC-AD8B-48A2-A14A-3AF2B844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PLAY opens a local match</a:t>
            </a:r>
          </a:p>
          <a:p xmlns:a="http://schemas.openxmlformats.org/drawingml/2006/main">
            <a:pPr>
              <a:defRPr sz="232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against 1–6 bots.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4AA60-1410-4AB0-BCAF-0CB0FD3C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Visible holder 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25A1D-BBC5-4297-A344-9BF907FF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590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Animal heads, matching trails</a:t>
            </a:r>
          </a:p>
          <a:p xmlns:a="http://schemas.openxmlformats.org/drawingml/2006/main">
            <a:pPr>
              <a:defRPr sz="232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and emoji-filled territory.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E0E17-D642-4902-BB3E-25E788C3DB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7e165801f94af1"/>
          <a:srcRect xmlns:a="http://schemas.openxmlformats.org/drawingml/2006/main" l="41500" t="35000" r="43000" b="37000"/>
          <a:stretch xmlns:a="http://schemas.openxmlformats.org/drawingml/2006/main"/>
        </p:blipFill>
        <p:spPr>
          <a:xfrm xmlns:a="http://schemas.openxmlformats.org/drawingml/2006/main">
            <a:off x="7620000" y="2095500"/>
            <a:ext cx="3524250" cy="3524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0A752-B502-4DE8-9A6A-739A4348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102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Whale appearance</a:t>
            </a:r>
          </a:p>
        </p:txBody>
      </p:sp>
    </p:spTree>
    <p:extLst>
      <p:ext uri="{BB962C8B-B14F-4D97-AF65-F5344CB8AC3E}">
        <p14:creationId xmlns:p14="http://schemas.microsoft.com/office/powerpoint/2010/main" val="5036147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11E39-347D-4E87-BA1A-670C17A0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The playable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38446-5129-4E26-998D-463D57EB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50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70"/>
                </a:solidFill>
                <a:latin typeface="Arial"/>
                <a:ea typeface="Arial"/>
                <a:cs typeface="Arial"/>
              </a:rPr>
              <a:t>WILDGROUND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F3980-0130-4B5B-9E8D-65DDBC54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B1914-4881-431B-A915-8096B841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53816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A match starts in the browser.</a:t>
            </a:r>
          </a:p>
          <a:p xmlns:a="http://schemas.openxmlformats.org/drawingml/2006/main">
            <a:pPr>
              <a:defRPr sz="262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No download or wallet is required for PLAY.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C60BB-0966-4345-8093-7202D0AF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5572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Close a trail to claim territory.</a:t>
            </a:r>
          </a:p>
          <a:p xmlns:a="http://schemas.openxmlformats.org/drawingml/2006/main">
            <a:pPr>
              <a:defRPr sz="22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Cut an exposed enemy trail.</a:t>
            </a:r>
          </a:p>
          <a:p xmlns:a="http://schemas.openxmlformats.org/drawingml/2006/main">
            <a:pPr>
              <a:defRPr sz="22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Survive to win.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4D2CC-919E-4285-BB34-B8A3F88B90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ddb18b27545e7"/>
          <a:srcRect xmlns:a="http://schemas.openxmlformats.org/drawingml/2006/main" l="32000" t="14000" r="32000" b="13000"/>
          <a:stretch xmlns:a="http://schemas.openxmlformats.org/drawingml/2006/main"/>
        </p:blipFill>
        <p:spPr>
          <a:xfrm xmlns:a="http://schemas.openxmlformats.org/drawingml/2006/main">
            <a:off x="7143750" y="1619250"/>
            <a:ext cx="4238625" cy="3952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397C7-C5C7-43B7-BC77-5744BFAC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a5be061101674098"/>
              </a:rPr>
              <a:t>Play the live demo</a:t>
            </a:r>
          </a:p>
        </p:txBody>
      </p:sp>
    </p:spTree>
    <p:extLst>
      <p:ext uri="{BB962C8B-B14F-4D97-AF65-F5344CB8AC3E}">
        <p14:creationId xmlns:p14="http://schemas.microsoft.com/office/powerpoint/2010/main" val="201240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F4AA7-6AD4-4D2E-892C-4F3D53F0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133D2-83E6-488B-8212-9DFB5B40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50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70"/>
                </a:solidFill>
                <a:latin typeface="Arial"/>
                <a:ea typeface="Arial"/>
                <a:cs typeface="Arial"/>
              </a:rPr>
              <a:t>WILDGROUND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380E2-173C-4EA4-9BF6-B78596CE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B262E-BE12-47E5-A37E-8B61B9C9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Available 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073C4-0C0D-4487-944F-5EBE3B0D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5048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Casual solo matches against bots.</a:t>
            </a:r>
          </a:p>
          <a:p xmlns:a="http://schemas.openxmlformats.org/drawingml/2006/main">
            <a:pPr>
              <a:defRPr sz="217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Optional animal cosmetics for WG holders.</a:t>
            </a:r>
          </a:p>
          <a:p xmlns:a="http://schemas.openxmlformats.org/drawingml/2006/main">
            <a:pPr>
              <a:defRPr sz="217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WATCH AI for spectator play.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2C3B4-CD88-4688-A93A-444EEEFF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478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Proposed next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A90F6-5515-45CE-9983-57524A74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Player onboarding pilot.</a:t>
            </a:r>
          </a:p>
          <a:p xmlns:a="http://schemas.openxmlformats.org/drawingml/2006/main">
            <a:pPr>
              <a:defRPr sz="217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Repeat-session and cosmetic-use tests.</a:t>
            </a:r>
          </a:p>
          <a:p xmlns:a="http://schemas.openxmlformats.org/drawingml/2006/main">
            <a:pPr>
              <a:defRPr sz="217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Multiplayer exploration after validation.</a:t>
            </a:r>
          </a:p>
        </p:txBody>
      </p:sp>
    </p:spTree>
    <p:extLst>
      <p:ext uri="{BB962C8B-B14F-4D97-AF65-F5344CB8AC3E}">
        <p14:creationId xmlns:p14="http://schemas.microsoft.com/office/powerpoint/2010/main" val="1250324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19BDE4-D616-4221-A419-471742EC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What is built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03BC1-393A-4880-B002-4F4B4919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50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70"/>
                </a:solidFill>
                <a:latin typeface="Arial"/>
                <a:ea typeface="Arial"/>
                <a:cs typeface="Arial"/>
              </a:rPr>
              <a:t>WILDGROUND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453CC-3117-4D33-80A4-75270CB4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F1F3D-D377-491A-AF62-02B2BACA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LIVE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C972B-6492-474B-AB1F-9F3953D7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7645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3A1F1-EDB1-4877-96F1-D8BD06B7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764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F12BA-E95C-4560-9FE0-4A6295E6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Published game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E1C0E-E7CB-498E-9D48-CE0B2093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385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Passing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A9D0E-A25C-4B64-BBDD-39352A67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38500"/>
            <a:ext cx="228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Animal skins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FBEC8B-4DC5-4300-B66A-F3DC12B7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09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Deployment and test results are verified.</a:t>
            </a:r>
          </a:p>
          <a:p xmlns:a="http://schemas.openxmlformats.org/drawingml/2006/main">
            <a:pPr>
              <a:defRPr sz="232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Users, retention and revenue have not yet been measured.</a:t>
            </a:r>
          </a:p>
        </p:txBody>
      </p:sp>
    </p:spTree>
    <p:extLst>
      <p:ext uri="{BB962C8B-B14F-4D97-AF65-F5344CB8AC3E}">
        <p14:creationId xmlns:p14="http://schemas.microsoft.com/office/powerpoint/2010/main" val="16428796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23F2C-B3D7-4067-B1C6-23777A29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Why this is buildable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64D88-8434-48BF-9245-08E04AB1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50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70"/>
                </a:solidFill>
                <a:latin typeface="Arial"/>
                <a:ea typeface="Arial"/>
                <a:cs typeface="Arial"/>
              </a:rPr>
              <a:t>WILDGROUND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148CC-162F-4AE0-B4FB-F4D978C0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50568-D220-4739-812C-0B8065B8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990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The game and WG token are already live.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99A55-4D37-4703-A15A-D498541F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Wallet identity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4C021-F8B0-4BBB-A939-F2996D86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iDosGames handles signed wallet login.</a:t>
            </a:r>
          </a:p>
          <a:p xmlns:a="http://schemas.openxmlformats.org/drawingml/2006/main">
            <a:pPr>
              <a:defRPr sz="21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The game reads the verified address.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DAA9B-326E-49C8-8DCB-08344494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Direct Solana 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A4F22-BF25-4216-9220-F0ED75DE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43375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The client derives the standard WG account.</a:t>
            </a:r>
          </a:p>
          <a:p xmlns:a="http://schemas.openxmlformats.org/drawingml/2006/main">
            <a:pPr>
              <a:defRPr sz="21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PublicNode returns its current token balance.</a:t>
            </a:r>
          </a:p>
        </p:txBody>
      </p:sp>
    </p:spTree>
    <p:extLst>
      <p:ext uri="{BB962C8B-B14F-4D97-AF65-F5344CB8AC3E}">
        <p14:creationId xmlns:p14="http://schemas.microsoft.com/office/powerpoint/2010/main" val="15581538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10B08C-4268-4FE7-A032-9456200D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The founder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D093D-9982-4EBF-87C0-EF22D19A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50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70"/>
                </a:solidFill>
                <a:latin typeface="Arial"/>
                <a:ea typeface="Arial"/>
                <a:cs typeface="Arial"/>
              </a:rPr>
              <a:t>WILDGROUND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14341-5C71-4E54-9CDE-E2A1C501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EBFBE-1630-47DF-A921-7B504C30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0001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64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Adam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27B29-A375-478E-A145-FBFC7B56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Founder of WildGround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6DF4E-DFC5-4BC6-98AC-62183444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a273510d15bb4491"/>
              </a:rPr>
              <a:t>Telegram @satoryX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B9D3B-1467-4C3F-AC4D-014B9FE4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990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Current focus: a playable MVP,</a:t>
            </a:r>
          </a:p>
          <a:p xmlns:a="http://schemas.openxmlformats.org/drawingml/2006/main">
            <a:pPr>
              <a:defRPr sz="21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holder verification and a player pilot.</a:t>
            </a:r>
          </a:p>
        </p:txBody>
      </p:sp>
    </p:spTree>
    <p:extLst>
      <p:ext uri="{BB962C8B-B14F-4D97-AF65-F5344CB8AC3E}">
        <p14:creationId xmlns:p14="http://schemas.microsoft.com/office/powerpoint/2010/main" val="18094473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50AA6-A64B-498C-9B20-44C21B3A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Next milestones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ACCC4-8EAD-4A95-86AD-F6550D6F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50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70"/>
                </a:solidFill>
                <a:latin typeface="Arial"/>
                <a:ea typeface="Arial"/>
                <a:cs typeface="Arial"/>
              </a:rPr>
              <a:t>WILDGROUND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49736-C8C3-4CEA-8126-5D2F062B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479A1-5FB1-4BA0-A20D-8E2A8B07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  Verify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F81E6-1A2F-4727-AABE-F9DB58A4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1019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Test a real holder unlock, wallet switching and insufficient balance.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1D032-75AE-49F9-851D-C9CA9C47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  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B596F-D73A-4CC3-9198-A095D9FE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1019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Invite 20 players. Target 10 completed matches and 6 voluntary replays.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CF706-7549-4337-9478-F7AAFD08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  Improve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3A89B-ED3E-4A4F-B480-2D4D74B1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Use pilot evidence to prioritize reliability, retention and multiplayer.</a:t>
            </a:r>
          </a:p>
        </p:txBody>
      </p:sp>
    </p:spTree>
    <p:extLst>
      <p:ext uri="{BB962C8B-B14F-4D97-AF65-F5344CB8AC3E}">
        <p14:creationId xmlns:p14="http://schemas.microsoft.com/office/powerpoint/2010/main" val="10285985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63B2F-6B20-45F9-9169-14C76B75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6202A"/>
                </a:solidFill>
                <a:latin typeface="Arial"/>
                <a:ea typeface="Arial"/>
                <a:cs typeface="Arial"/>
              </a:rPr>
              <a:t>WG utility and 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A7032-346E-4E5E-AE32-063A3334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50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70"/>
                </a:solidFill>
                <a:latin typeface="Arial"/>
                <a:ea typeface="Arial"/>
                <a:cs typeface="Arial"/>
              </a:rPr>
              <a:t>WILDGROUND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789DD-8DD2-423F-B2A6-8C8F3430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422B7-183E-43DF-9C32-C4CDDA67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100,000 WG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B175A-90D8-4CDF-A537-50EA0E6D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Holding enables cosmetic selection.</a:t>
            </a:r>
          </a:p>
          <a:p xmlns:a="http://schemas.openxmlformats.org/drawingml/2006/main">
            <a:pPr>
              <a:defRPr sz="225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The check does not transfer or burn tokens.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2AED8-2DF0-46B5-A20B-1E396EFB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The MVP does not charge players.</a:t>
            </a:r>
          </a:p>
          <a:p xmlns:a="http://schemas.openxmlformats.org/drawingml/2006/main">
            <a:pPr>
              <a:defRPr sz="2100" b="0">
                <a:solidFill>
                  <a:srgbClr val="16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02A"/>
                </a:solidFill>
                <a:latin typeface="Arial"/>
                <a:ea typeface="Arial"/>
                <a:cs typeface="Arial"/>
              </a:rPr>
              <a:t>Revenue and willingness to pay remain unvalidated.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06B90-F649-4AA7-B1D7-A1C273D497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c137c51004875"/>
          <a:srcRect xmlns:a="http://schemas.openxmlformats.org/drawingml/2006/main" l="34000" t="8500" r="34000" b="8500"/>
          <a:stretch xmlns:a="http://schemas.openxmlformats.org/drawingml/2006/main"/>
        </p:blipFill>
        <p:spPr>
          <a:xfrm xmlns:a="http://schemas.openxmlformats.org/drawingml/2006/main">
            <a:off x="8334375" y="1809750"/>
            <a:ext cx="2762250" cy="3619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F3D61-9C73-43B8-9BD6-8F437D36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667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Cosmetic catalogue</a:t>
            </a:r>
          </a:p>
        </p:txBody>
      </p:sp>
    </p:spTree>
    <p:extLst>
      <p:ext uri="{BB962C8B-B14F-4D97-AF65-F5344CB8AC3E}">
        <p14:creationId xmlns:p14="http://schemas.microsoft.com/office/powerpoint/2010/main" val="13796697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56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396D0-D770-4A0B-967C-89CA8769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WildGround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1C096-9B00-42BE-9394-34E9F230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50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C7D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C7D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D8FF"/>
                </a:solidFill>
                <a:latin typeface="Arial"/>
                <a:ea typeface="Arial"/>
                <a:cs typeface="Arial"/>
              </a:rPr>
              <a:t>WILDGROUND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77405-0551-4FBD-AB23-7232F8F7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C7D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7D8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7D8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076EF-1467-451F-BFA0-38286AC3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009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Play the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26E3A-84C9-4380-8B9E-85F4F104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7b6e7844ddd442e7"/>
              </a:rPr>
              <a:t>idosgames.com/app/XCQ1T7X1/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11B6C-1993-4F67-807D-AFD0C046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abc7d81345c14896"/>
              </a:rPr>
              <a:t>github.com/lekalerta-a11y/wildground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99476-5E17-450D-8DED-45D3FF1E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746a6cb8b5674a07"/>
              </a:rPr>
              <a:t>Adam · Telegram @satoryX</a:t>
            </a:r>
          </a:p>
        </p:txBody>
      </p:sp>
    </p:spTree>
    <p:extLst>
      <p:ext uri="{BB962C8B-B14F-4D97-AF65-F5344CB8AC3E}">
        <p14:creationId xmlns:p14="http://schemas.microsoft.com/office/powerpoint/2010/main" val="2377750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2026-10-12T10:57:30.4340000Z</dcterms:created>
  <dcterms:modified xsi:type="dcterms:W3CDTF">2026-10-12T10:57:30.4340000Z</dcterms:modified>
</coreProperties>
</file>